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7" r:id="rId9"/>
    <p:sldId id="268" r:id="rId10"/>
    <p:sldId id="265" r:id="rId11"/>
    <p:sldId id="266" r:id="rId12"/>
    <p:sldId id="269" r:id="rId13"/>
    <p:sldId id="270" r:id="rId14"/>
    <p:sldId id="271" r:id="rId15"/>
    <p:sldId id="272" r:id="rId16"/>
    <p:sldId id="276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05AC-35D3-41D7-B22B-B1EDB357361C}" type="datetimeFigureOut">
              <a:rPr lang="en-GB" smtClean="0"/>
              <a:t>28/03/2025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3577B-B6CA-4C4B-A996-48AEE69B2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2821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05AC-35D3-41D7-B22B-B1EDB357361C}" type="datetimeFigureOut">
              <a:rPr lang="en-GB" smtClean="0"/>
              <a:t>28/03/2025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3577B-B6CA-4C4B-A996-48AEE69B2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3937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05AC-35D3-41D7-B22B-B1EDB357361C}" type="datetimeFigureOut">
              <a:rPr lang="en-GB" smtClean="0"/>
              <a:t>28/03/2025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3577B-B6CA-4C4B-A996-48AEE69B2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8258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05AC-35D3-41D7-B22B-B1EDB357361C}" type="datetimeFigureOut">
              <a:rPr lang="en-GB" smtClean="0"/>
              <a:t>28/03/2025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3577B-B6CA-4C4B-A996-48AEE69B2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5249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05AC-35D3-41D7-B22B-B1EDB357361C}" type="datetimeFigureOut">
              <a:rPr lang="en-GB" smtClean="0"/>
              <a:t>28/03/2025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3577B-B6CA-4C4B-A996-48AEE69B2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8002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05AC-35D3-41D7-B22B-B1EDB357361C}" type="datetimeFigureOut">
              <a:rPr lang="en-GB" smtClean="0"/>
              <a:t>28/03/2025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3577B-B6CA-4C4B-A996-48AEE69B2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1335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05AC-35D3-41D7-B22B-B1EDB357361C}" type="datetimeFigureOut">
              <a:rPr lang="en-GB" smtClean="0"/>
              <a:t>28/03/2025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3577B-B6CA-4C4B-A996-48AEE69B2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3602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05AC-35D3-41D7-B22B-B1EDB357361C}" type="datetimeFigureOut">
              <a:rPr lang="en-GB" smtClean="0"/>
              <a:t>28/03/2025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3577B-B6CA-4C4B-A996-48AEE69B2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4097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05AC-35D3-41D7-B22B-B1EDB357361C}" type="datetimeFigureOut">
              <a:rPr lang="en-GB" smtClean="0"/>
              <a:t>28/03/2025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3577B-B6CA-4C4B-A996-48AEE69B2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900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05AC-35D3-41D7-B22B-B1EDB357361C}" type="datetimeFigureOut">
              <a:rPr lang="en-GB" smtClean="0"/>
              <a:t>28/03/2025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3577B-B6CA-4C4B-A996-48AEE69B2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465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B05AC-35D3-41D7-B22B-B1EDB357361C}" type="datetimeFigureOut">
              <a:rPr lang="en-GB" smtClean="0"/>
              <a:t>28/03/2025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3577B-B6CA-4C4B-A996-48AEE69B2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8314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B05AC-35D3-41D7-B22B-B1EDB357361C}" type="datetimeFigureOut">
              <a:rPr lang="en-GB" smtClean="0"/>
              <a:t>28/03/2025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3577B-B6CA-4C4B-A996-48AEE69B2F2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5728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bWvdFwJ69pY" TargetMode="External"/><Relationship Id="rId2" Type="http://schemas.openxmlformats.org/officeDocument/2006/relationships/hyperlink" Target="https://youtu.be/JFch3ctY6nE?si=Y5iUd3kD3-BcJoAQ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SBjTuosiO8Q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TCP Server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9264" y="3602038"/>
            <a:ext cx="10655808" cy="1655762"/>
          </a:xfrm>
        </p:spPr>
        <p:txBody>
          <a:bodyPr/>
          <a:lstStyle/>
          <a:p>
            <a:r>
              <a:rPr lang="bg-BG" dirty="0"/>
              <a:t>Радослав Ангелов, Георги Манчев, Иван Иванов, </a:t>
            </a:r>
            <a:r>
              <a:rPr lang="bg-BG" dirty="0" err="1"/>
              <a:t>Радин</a:t>
            </a:r>
            <a:r>
              <a:rPr lang="bg-BG" dirty="0"/>
              <a:t> Цочев, Иво </a:t>
            </a:r>
            <a:r>
              <a:rPr lang="bg-BG" dirty="0" err="1"/>
              <a:t>Гьошков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800777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78312" cy="1325563"/>
          </a:xfrm>
        </p:spPr>
        <p:txBody>
          <a:bodyPr/>
          <a:lstStyle/>
          <a:p>
            <a:r>
              <a:rPr lang="ru-RU" b="1" dirty="0"/>
              <a:t>1. Какво е TCP (Transmission Control Protocol)?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54809"/>
            <a:ext cx="10515600" cy="4351338"/>
          </a:xfrm>
        </p:spPr>
        <p:txBody>
          <a:bodyPr>
            <a:normAutofit/>
          </a:bodyPr>
          <a:lstStyle/>
          <a:p>
            <a:r>
              <a:rPr lang="ru-RU" b="1" dirty="0"/>
              <a:t>Ориентиран към връзка</a:t>
            </a:r>
            <a:r>
              <a:rPr lang="ru-RU" dirty="0"/>
              <a:t> – клиентът и сървърът първо установяват връзка (3-way handshake), преди да започнат обмен на данни.</a:t>
            </a:r>
          </a:p>
          <a:p>
            <a:r>
              <a:rPr lang="ru-RU" b="1" dirty="0"/>
              <a:t>Надеждност</a:t>
            </a:r>
            <a:r>
              <a:rPr lang="ru-RU" dirty="0"/>
              <a:t> – гарантира, че всички пакети пристигат и че са в правилния ред.</a:t>
            </a:r>
          </a:p>
          <a:p>
            <a:r>
              <a:rPr lang="ru-RU" b="1" dirty="0"/>
              <a:t>Контрол на потока и грешките</a:t>
            </a:r>
            <a:r>
              <a:rPr lang="ru-RU" dirty="0"/>
              <a:t> – ако някой пакет се загуби, TCP го изпраща отново.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030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2. За какво се използва TCP?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TCP </a:t>
            </a:r>
            <a:r>
              <a:rPr lang="bg-BG" dirty="0"/>
              <a:t>се използва навсякъде, където е важна </a:t>
            </a:r>
            <a:r>
              <a:rPr lang="bg-BG" b="1" dirty="0"/>
              <a:t>надеждността</a:t>
            </a:r>
            <a:r>
              <a:rPr lang="bg-BG" dirty="0"/>
              <a:t> на комуникацията:</a:t>
            </a:r>
          </a:p>
          <a:p>
            <a:pPr marL="0" indent="0">
              <a:buNone/>
            </a:pPr>
            <a:r>
              <a:rPr lang="bg-BG" dirty="0"/>
              <a:t>- </a:t>
            </a:r>
            <a:r>
              <a:rPr lang="bg-BG" b="1" dirty="0"/>
              <a:t>Уебсайтове и браузъри</a:t>
            </a:r>
            <a:r>
              <a:rPr lang="bg-BG" dirty="0"/>
              <a:t> – </a:t>
            </a:r>
            <a:r>
              <a:rPr lang="en-GB" dirty="0"/>
              <a:t>HTTP, HTTPS </a:t>
            </a:r>
            <a:r>
              <a:rPr lang="bg-BG" dirty="0"/>
              <a:t>работят върху </a:t>
            </a:r>
            <a:r>
              <a:rPr lang="en-GB" dirty="0"/>
              <a:t>TCP.</a:t>
            </a:r>
            <a:br>
              <a:rPr lang="en-GB" dirty="0"/>
            </a:br>
            <a:r>
              <a:rPr lang="bg-BG" dirty="0"/>
              <a:t>- </a:t>
            </a:r>
            <a:r>
              <a:rPr lang="bg-BG" b="1" dirty="0"/>
              <a:t>Имейли</a:t>
            </a:r>
            <a:r>
              <a:rPr lang="bg-BG" dirty="0"/>
              <a:t> – Протоколите </a:t>
            </a:r>
            <a:r>
              <a:rPr lang="en-GB" dirty="0"/>
              <a:t>SMTP, IMAP </a:t>
            </a:r>
            <a:r>
              <a:rPr lang="bg-BG" dirty="0"/>
              <a:t>и </a:t>
            </a:r>
            <a:r>
              <a:rPr lang="en-GB" dirty="0"/>
              <a:t>POP3 </a:t>
            </a:r>
            <a:r>
              <a:rPr lang="bg-BG" dirty="0"/>
              <a:t>използват </a:t>
            </a:r>
            <a:r>
              <a:rPr lang="en-GB" dirty="0"/>
              <a:t>TCP.</a:t>
            </a:r>
            <a:br>
              <a:rPr lang="en-GB" dirty="0"/>
            </a:br>
            <a:r>
              <a:rPr lang="bg-BG" dirty="0"/>
              <a:t>-</a:t>
            </a:r>
            <a:r>
              <a:rPr lang="en-GB" dirty="0"/>
              <a:t> </a:t>
            </a:r>
            <a:r>
              <a:rPr lang="bg-BG" b="1" dirty="0"/>
              <a:t>Файлови трансфери</a:t>
            </a:r>
            <a:r>
              <a:rPr lang="bg-BG" dirty="0"/>
              <a:t> – </a:t>
            </a:r>
            <a:r>
              <a:rPr lang="en-GB" dirty="0"/>
              <a:t>FTP </a:t>
            </a:r>
            <a:r>
              <a:rPr lang="bg-BG" dirty="0"/>
              <a:t>и </a:t>
            </a:r>
            <a:r>
              <a:rPr lang="en-GB" dirty="0"/>
              <a:t>SFTP.</a:t>
            </a:r>
            <a:br>
              <a:rPr lang="en-GB" dirty="0"/>
            </a:br>
            <a:r>
              <a:rPr lang="bg-BG" dirty="0"/>
              <a:t>-</a:t>
            </a:r>
            <a:r>
              <a:rPr lang="en-GB" dirty="0"/>
              <a:t> </a:t>
            </a:r>
            <a:r>
              <a:rPr lang="bg-BG" b="1" dirty="0"/>
              <a:t>Чат приложения</a:t>
            </a:r>
            <a:r>
              <a:rPr lang="bg-BG" dirty="0"/>
              <a:t> – </a:t>
            </a:r>
            <a:r>
              <a:rPr lang="en-GB" dirty="0"/>
              <a:t>WhatsApp, Messenger, Signal.</a:t>
            </a:r>
            <a:br>
              <a:rPr lang="en-GB" dirty="0"/>
            </a:br>
            <a:r>
              <a:rPr lang="bg-BG" dirty="0"/>
              <a:t>-</a:t>
            </a:r>
            <a:r>
              <a:rPr lang="en-GB" dirty="0"/>
              <a:t> </a:t>
            </a:r>
            <a:r>
              <a:rPr lang="bg-BG" b="1" dirty="0"/>
              <a:t>Игри и финансови транзакции</a:t>
            </a:r>
            <a:r>
              <a:rPr lang="bg-BG" dirty="0"/>
              <a:t> – там, където загубата на данни е критична.</a:t>
            </a:r>
          </a:p>
        </p:txBody>
      </p:sp>
    </p:spTree>
    <p:extLst>
      <p:ext uri="{BB962C8B-B14F-4D97-AF65-F5344CB8AC3E}">
        <p14:creationId xmlns:p14="http://schemas.microsoft.com/office/powerpoint/2010/main" val="407592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3. TCP пред UDP?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 </a:t>
            </a:r>
            <a:r>
              <a:rPr lang="ru-RU" b="1" dirty="0"/>
              <a:t>Каква е разликата между TCP и UDP?</a:t>
            </a:r>
            <a:endParaRPr lang="ru-RU" dirty="0"/>
          </a:p>
          <a:p>
            <a:endParaRPr lang="en-GB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6783864"/>
              </p:ext>
            </p:extLst>
          </p:nvPr>
        </p:nvGraphicFramePr>
        <p:xfrm>
          <a:off x="1249679" y="2609090"/>
          <a:ext cx="963168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0560">
                  <a:extLst>
                    <a:ext uri="{9D8B030D-6E8A-4147-A177-3AD203B41FA5}">
                      <a16:colId xmlns:a16="http://schemas.microsoft.com/office/drawing/2014/main" val="348041348"/>
                    </a:ext>
                  </a:extLst>
                </a:gridCol>
                <a:gridCol w="3210560">
                  <a:extLst>
                    <a:ext uri="{9D8B030D-6E8A-4147-A177-3AD203B41FA5}">
                      <a16:colId xmlns:a16="http://schemas.microsoft.com/office/drawing/2014/main" val="3483172970"/>
                    </a:ext>
                  </a:extLst>
                </a:gridCol>
                <a:gridCol w="3210560">
                  <a:extLst>
                    <a:ext uri="{9D8B030D-6E8A-4147-A177-3AD203B41FA5}">
                      <a16:colId xmlns:a16="http://schemas.microsoft.com/office/drawing/2014/main" val="2706053154"/>
                    </a:ext>
                  </a:extLst>
                </a:gridCol>
              </a:tblGrid>
              <a:tr h="573024">
                <a:tc>
                  <a:txBody>
                    <a:bodyPr/>
                    <a:lstStyle/>
                    <a:p>
                      <a:r>
                        <a:rPr lang="bg-BG" dirty="0"/>
                        <a:t>Характеристика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TCP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UDP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8819324"/>
                  </a:ext>
                </a:extLst>
              </a:tr>
              <a:tr h="573024">
                <a:tc>
                  <a:txBody>
                    <a:bodyPr/>
                    <a:lstStyle/>
                    <a:p>
                      <a:r>
                        <a:rPr lang="bg-BG" dirty="0"/>
                        <a:t>Надеждност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Да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Не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4495974"/>
                  </a:ext>
                </a:extLst>
              </a:tr>
              <a:tr h="573024">
                <a:tc>
                  <a:txBody>
                    <a:bodyPr/>
                    <a:lstStyle/>
                    <a:p>
                      <a:r>
                        <a:rPr lang="bg-BG" dirty="0"/>
                        <a:t>Ориентиран към връзка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Да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Не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817962"/>
                  </a:ext>
                </a:extLst>
              </a:tr>
              <a:tr h="573024">
                <a:tc>
                  <a:txBody>
                    <a:bodyPr/>
                    <a:lstStyle/>
                    <a:p>
                      <a:r>
                        <a:rPr lang="bg-BG" dirty="0"/>
                        <a:t>Контрол на грешките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Да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Не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1893087"/>
                  </a:ext>
                </a:extLst>
              </a:tr>
              <a:tr h="573024">
                <a:tc>
                  <a:txBody>
                    <a:bodyPr/>
                    <a:lstStyle/>
                    <a:p>
                      <a:r>
                        <a:rPr lang="bg-BG" dirty="0"/>
                        <a:t>Бързина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По-бавен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По-бърз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0845644"/>
                  </a:ext>
                </a:extLst>
              </a:tr>
              <a:tr h="573024">
                <a:tc>
                  <a:txBody>
                    <a:bodyPr/>
                    <a:lstStyle/>
                    <a:p>
                      <a:r>
                        <a:rPr lang="bg-BG" dirty="0"/>
                        <a:t>Използва се за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bg-BG" dirty="0"/>
                        <a:t>Уеб, чат, банкиране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Видео стрийминг, онлайн игри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6808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9716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4356" y="2474589"/>
            <a:ext cx="5631148" cy="1325563"/>
          </a:xfrm>
        </p:spPr>
        <p:txBody>
          <a:bodyPr>
            <a:normAutofit/>
          </a:bodyPr>
          <a:lstStyle/>
          <a:p>
            <a:r>
              <a:rPr lang="en-GB" sz="8800" b="1" dirty="0"/>
              <a:t>LIVE DEMO</a:t>
            </a:r>
          </a:p>
        </p:txBody>
      </p:sp>
    </p:spTree>
    <p:extLst>
      <p:ext uri="{BB962C8B-B14F-4D97-AF65-F5344CB8AC3E}">
        <p14:creationId xmlns:p14="http://schemas.microsoft.com/office/powerpoint/2010/main" val="37045914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2068" y="0"/>
            <a:ext cx="4427863" cy="1018659"/>
          </a:xfrm>
        </p:spPr>
        <p:txBody>
          <a:bodyPr/>
          <a:lstStyle/>
          <a:p>
            <a:r>
              <a:rPr lang="bg-BG" dirty="0" err="1"/>
              <a:t>Многозадачност</a:t>
            </a:r>
            <a:endParaRPr lang="en-GB" dirty="0"/>
          </a:p>
        </p:txBody>
      </p:sp>
      <p:pic>
        <p:nvPicPr>
          <p:cNvPr id="11" name="Картина 10" descr="Картина, която съдържа Шрифт, Графика, дизайн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423908A3-4B7B-82D7-E698-5A7AF69DB1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3591"/>
            <a:ext cx="6510969" cy="3774765"/>
          </a:xfrm>
          <a:prstGeom prst="rect">
            <a:avLst/>
          </a:prstGeom>
        </p:spPr>
      </p:pic>
      <p:pic>
        <p:nvPicPr>
          <p:cNvPr id="13" name="Картина 12" descr="Картина, която съдържа текст, Шрифт, екранна снимка, диаграма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DACD8E9F-1809-D727-B80B-1397E7B9006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815" y="2967905"/>
            <a:ext cx="6510970" cy="3802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3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279F317-A396-B2DF-6A85-3F07CA199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068" y="0"/>
            <a:ext cx="4427863" cy="1018659"/>
          </a:xfrm>
        </p:spPr>
        <p:txBody>
          <a:bodyPr/>
          <a:lstStyle/>
          <a:p>
            <a:r>
              <a:rPr lang="bg-BG" dirty="0" err="1"/>
              <a:t>Многозадачност</a:t>
            </a:r>
            <a:endParaRPr lang="en-GB" dirty="0"/>
          </a:p>
        </p:txBody>
      </p:sp>
      <p:pic>
        <p:nvPicPr>
          <p:cNvPr id="6" name="Картина 5" descr="Картина, която съдържа текст, екранна снимка, Шрифт, лого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D61890F5-099F-13E8-E866-65869E0A18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918" y="1235919"/>
            <a:ext cx="9904164" cy="4930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509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E2368-0807-483D-592A-9676D3E43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02946BF-B186-2CC5-E618-7C5C899E0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2068" y="0"/>
            <a:ext cx="4427863" cy="1018659"/>
          </a:xfrm>
        </p:spPr>
        <p:txBody>
          <a:bodyPr/>
          <a:lstStyle/>
          <a:p>
            <a:r>
              <a:rPr lang="bg-BG" dirty="0" err="1"/>
              <a:t>Многозадачност</a:t>
            </a:r>
            <a:endParaRPr lang="en-GB" dirty="0"/>
          </a:p>
        </p:txBody>
      </p:sp>
      <p:pic>
        <p:nvPicPr>
          <p:cNvPr id="3" name="Картина 2">
            <a:extLst>
              <a:ext uri="{FF2B5EF4-FFF2-40B4-BE49-F238E27FC236}">
                <a16:creationId xmlns:a16="http://schemas.microsoft.com/office/drawing/2014/main" id="{52B84732-20DB-8993-9864-901207521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66" y="1018659"/>
            <a:ext cx="11277600" cy="5573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053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Картина 6" descr="Картина, която съдържа текст, Шрифт, екранна снимка, номер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203B7600-C35E-F421-1FD2-8C288394BB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38" y="634673"/>
            <a:ext cx="11887523" cy="558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500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0701122B-E126-4DB0-C2C7-4C6205558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323" y="0"/>
            <a:ext cx="2246523" cy="741669"/>
          </a:xfrm>
        </p:spPr>
        <p:txBody>
          <a:bodyPr/>
          <a:lstStyle/>
          <a:p>
            <a:r>
              <a:rPr lang="bg-BG" dirty="0"/>
              <a:t>Портове</a:t>
            </a:r>
            <a:endParaRPr lang="en-US" dirty="0"/>
          </a:p>
        </p:txBody>
      </p:sp>
      <p:pic>
        <p:nvPicPr>
          <p:cNvPr id="5" name="Картина 4" descr="Картина, която съдържа Правоъгълник, екранна снимка, жълто, жак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2D752356-A0B1-F22F-E403-301E62DCA6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090" y="1915922"/>
            <a:ext cx="4583233" cy="3231537"/>
          </a:xfrm>
          <a:prstGeom prst="rect">
            <a:avLst/>
          </a:prstGeom>
        </p:spPr>
      </p:pic>
      <p:pic>
        <p:nvPicPr>
          <p:cNvPr id="7" name="Картина 6" descr="Картина, която съдържа текст, екранна снимка, диаграма, Шрифт&#10;&#10;Генерираното от ИИ съдържание може да е неправилно.">
            <a:extLst>
              <a:ext uri="{FF2B5EF4-FFF2-40B4-BE49-F238E27FC236}">
                <a16:creationId xmlns:a16="http://schemas.microsoft.com/office/drawing/2014/main" id="{C4314ECB-33EA-CC59-A1CE-F0B3211196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170" y="741669"/>
            <a:ext cx="5760045" cy="5580043"/>
          </a:xfrm>
          <a:prstGeom prst="rect">
            <a:avLst/>
          </a:prstGeom>
        </p:spPr>
      </p:pic>
      <p:sp>
        <p:nvSpPr>
          <p:cNvPr id="8" name="Текстово поле 7">
            <a:extLst>
              <a:ext uri="{FF2B5EF4-FFF2-40B4-BE49-F238E27FC236}">
                <a16:creationId xmlns:a16="http://schemas.microsoft.com/office/drawing/2014/main" id="{0EEDFFD2-8442-6BEF-F80A-B7FCC169C5BD}"/>
              </a:ext>
            </a:extLst>
          </p:cNvPr>
          <p:cNvSpPr txBox="1"/>
          <p:nvPr/>
        </p:nvSpPr>
        <p:spPr>
          <a:xfrm>
            <a:off x="5068767" y="2382559"/>
            <a:ext cx="102723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3000" dirty="0"/>
              <a:t>?</a:t>
            </a:r>
            <a:endParaRPr lang="en-US" sz="13000" dirty="0"/>
          </a:p>
        </p:txBody>
      </p:sp>
    </p:spTree>
    <p:extLst>
      <p:ext uri="{BB962C8B-B14F-4D97-AF65-F5344CB8AC3E}">
        <p14:creationId xmlns:p14="http://schemas.microsoft.com/office/powerpoint/2010/main" val="2587863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7A7B4-1A69-DA89-3A08-4707D39E3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1AC56E62-B05C-F0D6-45C0-974E462FC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7323" y="0"/>
            <a:ext cx="2246523" cy="741669"/>
          </a:xfrm>
        </p:spPr>
        <p:txBody>
          <a:bodyPr/>
          <a:lstStyle/>
          <a:p>
            <a:r>
              <a:rPr lang="bg-BG" dirty="0"/>
              <a:t>Портове</a:t>
            </a:r>
            <a:endParaRPr lang="en-US" dirty="0"/>
          </a:p>
        </p:txBody>
      </p:sp>
      <p:pic>
        <p:nvPicPr>
          <p:cNvPr id="5" name="Картина 4">
            <a:extLst>
              <a:ext uri="{FF2B5EF4-FFF2-40B4-BE49-F238E27FC236}">
                <a16:creationId xmlns:a16="http://schemas.microsoft.com/office/drawing/2014/main" id="{AF58FCE1-A6BE-28CE-60C0-EB93993B3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56" y="2056084"/>
            <a:ext cx="10932145" cy="238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2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TCP </a:t>
            </a:r>
            <a:r>
              <a:rPr lang="en-US" dirty="0"/>
              <a:t>Header</a:t>
            </a:r>
            <a:endParaRPr lang="en-GB" dirty="0"/>
          </a:p>
        </p:txBody>
      </p:sp>
      <p:pic>
        <p:nvPicPr>
          <p:cNvPr id="11" name="Content Placeholder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59827B-93DF-18D5-0D29-0A8A299051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9" t="19459" r="3753" b="5451"/>
          <a:stretch/>
        </p:blipFill>
        <p:spPr>
          <a:xfrm>
            <a:off x="930967" y="1992916"/>
            <a:ext cx="10330065" cy="2872168"/>
          </a:xfrm>
        </p:spPr>
      </p:pic>
    </p:spTree>
    <p:extLst>
      <p:ext uri="{BB962C8B-B14F-4D97-AF65-F5344CB8AC3E}">
        <p14:creationId xmlns:p14="http://schemas.microsoft.com/office/powerpoint/2010/main" val="1967690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82E98-E2A7-3709-8E6F-5A631D31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Започване на </a:t>
            </a:r>
            <a:r>
              <a:rPr lang="en-US" dirty="0"/>
              <a:t>TCP </a:t>
            </a:r>
            <a:r>
              <a:rPr lang="bg-BG" dirty="0"/>
              <a:t>сесията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FA7269-EBFD-C51B-E3E4-62F86CEDF9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Three-way handshake:</a:t>
            </a:r>
            <a:endParaRPr lang="bg-BG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F3232A1-D203-B9CF-8081-29BFBFCF2E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3300" y="2553362"/>
            <a:ext cx="7645400" cy="362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4374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DE0B1-1549-6AC4-98C4-C215ABABD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Приключване на </a:t>
            </a:r>
            <a:r>
              <a:rPr lang="en-US" dirty="0"/>
              <a:t>TCP </a:t>
            </a:r>
            <a:r>
              <a:rPr lang="bg-BG" dirty="0"/>
              <a:t>сесията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4A629-9111-DB82-D9D1-958ADF9C0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Чрез </a:t>
            </a:r>
            <a:r>
              <a:rPr lang="en-US" dirty="0"/>
              <a:t>FIN:</a:t>
            </a:r>
            <a:endParaRPr lang="bg-BG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EE5C44-4C1B-68F9-66BE-17F586CDAB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6368" y="2082798"/>
            <a:ext cx="7599263" cy="4580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0739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9BC96-3B88-681A-B4DA-96D71025B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Приключване на </a:t>
            </a:r>
            <a:r>
              <a:rPr lang="en-US" dirty="0"/>
              <a:t>TCP </a:t>
            </a:r>
            <a:r>
              <a:rPr lang="bg-BG" dirty="0"/>
              <a:t>сесията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EFE7E-AFFB-989E-5260-357A0C7FF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bg-BG" dirty="0"/>
              <a:t>Чрез </a:t>
            </a:r>
            <a:r>
              <a:rPr lang="en-US" dirty="0"/>
              <a:t>RST: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2A58449-4D6A-AAAC-69B2-702F25F5A3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0135" y="2548489"/>
            <a:ext cx="8331730" cy="3557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79697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383ED50F-620C-732A-A292-AA9B6D72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</a:t>
            </a:r>
            <a:r>
              <a:rPr lang="bg-BG" dirty="0"/>
              <a:t>в реалния свят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42F9DE9B-6800-1080-1537-147D00A1F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5122" name="Picture 2" descr="What is Nginx?. In this article, we're learning about… | by Kasun  Dissanayake | Geek Culture | Medium">
            <a:extLst>
              <a:ext uri="{FF2B5EF4-FFF2-40B4-BE49-F238E27FC236}">
                <a16:creationId xmlns:a16="http://schemas.microsoft.com/office/drawing/2014/main" id="{7AA49861-F94D-1D44-15E4-A665335DD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399" y="1690688"/>
            <a:ext cx="4639733" cy="1859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YouTube Brand Resources and Guidelines - How YouTube Works">
            <a:extLst>
              <a:ext uri="{FF2B5EF4-FFF2-40B4-BE49-F238E27FC236}">
                <a16:creationId xmlns:a16="http://schemas.microsoft.com/office/drawing/2014/main" id="{D4F9D51E-5D3B-26F3-6725-2B2CB7655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1133" y="306916"/>
            <a:ext cx="3439583" cy="1809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AProxy - Wikipedia">
            <a:extLst>
              <a:ext uri="{FF2B5EF4-FFF2-40B4-BE49-F238E27FC236}">
                <a16:creationId xmlns:a16="http://schemas.microsoft.com/office/drawing/2014/main" id="{A5AF3CCE-73AB-E3DF-353A-FF82375FF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7000" y="3950758"/>
            <a:ext cx="3096683" cy="2433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Fortnite | Download &amp; Play For Free - Epic Games Store">
            <a:extLst>
              <a:ext uri="{FF2B5EF4-FFF2-40B4-BE49-F238E27FC236}">
                <a16:creationId xmlns:a16="http://schemas.microsoft.com/office/drawing/2014/main" id="{3B0B226D-4685-DDD5-EEC4-289B9180A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2734" y="3027363"/>
            <a:ext cx="609600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85345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A765DACF-5C0E-2268-F131-78CAB9D38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TCP </a:t>
            </a:r>
            <a:r>
              <a:rPr lang="bg-BG" dirty="0"/>
              <a:t>в реалния свят</a:t>
            </a: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A192D214-EBC3-B252-B6D6-D59508760F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 dirty="0"/>
          </a:p>
        </p:txBody>
      </p:sp>
      <p:pic>
        <p:nvPicPr>
          <p:cNvPr id="1026" name="Picture 2" descr="Ironsight en Steam">
            <a:extLst>
              <a:ext uri="{FF2B5EF4-FFF2-40B4-BE49-F238E27FC236}">
                <a16:creationId xmlns:a16="http://schemas.microsoft.com/office/drawing/2014/main" id="{131EC6F4-F055-4B31-0D89-B1E9438EF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551" y="1561895"/>
            <a:ext cx="4600916" cy="2150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SK Direct">
            <a:extLst>
              <a:ext uri="{FF2B5EF4-FFF2-40B4-BE49-F238E27FC236}">
                <a16:creationId xmlns:a16="http://schemas.microsoft.com/office/drawing/2014/main" id="{F8F7AF99-999C-4C60-8B72-23DE479FB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5993" y="848436"/>
            <a:ext cx="3712984" cy="2401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Trading 212 Group profits drop 35% in 2023, launches Australia branch - FX  News Group">
            <a:extLst>
              <a:ext uri="{FF2B5EF4-FFF2-40B4-BE49-F238E27FC236}">
                <a16:creationId xmlns:a16="http://schemas.microsoft.com/office/drawing/2014/main" id="{21C6CF3D-6203-9364-8EE9-B18C2D54B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799" y="4171321"/>
            <a:ext cx="4275667" cy="2321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ardware‐ defining hardware - Vrindawan University">
            <a:extLst>
              <a:ext uri="{FF2B5EF4-FFF2-40B4-BE49-F238E27FC236}">
                <a16:creationId xmlns:a16="http://schemas.microsoft.com/office/drawing/2014/main" id="{B00A38CA-90D7-D9BD-258B-93D1906A9D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666" y="3976587"/>
            <a:ext cx="4313637" cy="2516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3798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F2EC89CC-DF9C-5BE9-9A27-555F1E09C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EDFD9AEC-21D2-7046-04F3-CF7EB25EC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bg-BG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9A32FC8-25C7-0D02-F7A9-246793A093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064" y="954279"/>
            <a:ext cx="6501871" cy="4949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8533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Използвани ресурси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https://youtu.be/JFch3ctY6nE?si=Y5iUd3kD3-BcJoAQ</a:t>
            </a:r>
            <a:r>
              <a:rPr lang="en-GB" dirty="0"/>
              <a:t> – </a:t>
            </a:r>
            <a:r>
              <a:rPr lang="bg-BG" dirty="0"/>
              <a:t>Използавани примери за започване и приключване на </a:t>
            </a:r>
            <a:r>
              <a:rPr lang="en-US" dirty="0"/>
              <a:t>TCP </a:t>
            </a:r>
            <a:r>
              <a:rPr lang="bg-BG" dirty="0"/>
              <a:t>сесията.</a:t>
            </a:r>
            <a:endParaRPr lang="en-US" dirty="0"/>
          </a:p>
          <a:p>
            <a:r>
              <a:rPr lang="en-GB" dirty="0">
                <a:hlinkClick r:id="rId3"/>
              </a:rPr>
              <a:t>https://www.youtube.com/watch?v=bWvdFwJ69pY</a:t>
            </a:r>
            <a:endParaRPr lang="en-US" dirty="0"/>
          </a:p>
          <a:p>
            <a:r>
              <a:rPr lang="en-GB" dirty="0">
                <a:hlinkClick r:id="rId4"/>
              </a:rPr>
              <a:t>https://www.youtube.com/watch?v=SBjTuosiO8Q</a:t>
            </a:r>
            <a:r>
              <a:rPr lang="en-GB" dirty="0"/>
              <a:t> – </a:t>
            </a:r>
            <a:r>
              <a:rPr lang="en-US"/>
              <a:t>Ironsight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1548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298</Words>
  <Application>Microsoft Office PowerPoint</Application>
  <PresentationFormat>Широк екран</PresentationFormat>
  <Paragraphs>49</Paragraphs>
  <Slides>19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TCP Server</vt:lpstr>
      <vt:lpstr>1. Какво е TCP (Transmission Control Protocol)?</vt:lpstr>
      <vt:lpstr>2. За какво се използва TCP?</vt:lpstr>
      <vt:lpstr>3. TCP пред UDP?</vt:lpstr>
      <vt:lpstr>LIVE DEMO</vt:lpstr>
      <vt:lpstr>Многозадачност</vt:lpstr>
      <vt:lpstr>Многозадачност</vt:lpstr>
      <vt:lpstr>Многозадачност</vt:lpstr>
      <vt:lpstr>Презентация на PowerPoint</vt:lpstr>
      <vt:lpstr>Портове</vt:lpstr>
      <vt:lpstr>Портове</vt:lpstr>
      <vt:lpstr>TCP Header</vt:lpstr>
      <vt:lpstr>Започване на TCP сесията</vt:lpstr>
      <vt:lpstr>Приключване на TCP сесията</vt:lpstr>
      <vt:lpstr>Приключване на TCP сесията</vt:lpstr>
      <vt:lpstr>TCP в реалния свят</vt:lpstr>
      <vt:lpstr>TCP в реалния свят</vt:lpstr>
      <vt:lpstr>Презентация на PowerPoint</vt:lpstr>
      <vt:lpstr>Използвани ресурси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TCP Server</dc:title>
  <dc:creator>Radi</dc:creator>
  <cp:lastModifiedBy>Иво Гьошков</cp:lastModifiedBy>
  <cp:revision>13</cp:revision>
  <dcterms:created xsi:type="dcterms:W3CDTF">2025-03-13T19:32:35Z</dcterms:created>
  <dcterms:modified xsi:type="dcterms:W3CDTF">2025-03-28T06:37:15Z</dcterms:modified>
</cp:coreProperties>
</file>